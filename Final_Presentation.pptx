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24"/>
  </p:notesMasterIdLst>
  <p:sldIdLst>
    <p:sldId id="256" r:id="rId2"/>
    <p:sldId id="257" r:id="rId3"/>
    <p:sldId id="258" r:id="rId4"/>
    <p:sldId id="261" r:id="rId5"/>
    <p:sldId id="266" r:id="rId6"/>
    <p:sldId id="279" r:id="rId7"/>
    <p:sldId id="259" r:id="rId8"/>
    <p:sldId id="275" r:id="rId9"/>
    <p:sldId id="274" r:id="rId10"/>
    <p:sldId id="272" r:id="rId11"/>
    <p:sldId id="273" r:id="rId12"/>
    <p:sldId id="264" r:id="rId13"/>
    <p:sldId id="269" r:id="rId14"/>
    <p:sldId id="268" r:id="rId15"/>
    <p:sldId id="260" r:id="rId16"/>
    <p:sldId id="267" r:id="rId17"/>
    <p:sldId id="276" r:id="rId18"/>
    <p:sldId id="277" r:id="rId19"/>
    <p:sldId id="278" r:id="rId20"/>
    <p:sldId id="271" r:id="rId21"/>
    <p:sldId id="270" r:id="rId22"/>
    <p:sldId id="26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246A28-79AF-4090-8206-0252F540FEA0}" v="2" dt="2026-04-08T05:06:51.522"/>
  </p1510:revLst>
</p1510:revInfo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asmita Dash" userId="3b68d49dcc510301" providerId="LiveId" clId="{6EE1027D-695A-4935-8C19-70D48500A80B}"/>
    <pc:docChg chg="undo custSel addSld delSld modSld sldOrd">
      <pc:chgData name="Debasmita Dash" userId="3b68d49dcc510301" providerId="LiveId" clId="{6EE1027D-695A-4935-8C19-70D48500A80B}" dt="2026-04-08T05:11:43.559" v="4975" actId="33524"/>
      <pc:docMkLst>
        <pc:docMk/>
      </pc:docMkLst>
      <pc:sldChg chg="modSp mod">
        <pc:chgData name="Debasmita Dash" userId="3b68d49dcc510301" providerId="LiveId" clId="{6EE1027D-695A-4935-8C19-70D48500A80B}" dt="2026-04-08T05:11:43.559" v="4975" actId="33524"/>
        <pc:sldMkLst>
          <pc:docMk/>
          <pc:sldMk cId="1911032489" sldId="264"/>
        </pc:sldMkLst>
        <pc:spChg chg="mod">
          <ac:chgData name="Debasmita Dash" userId="3b68d49dcc510301" providerId="LiveId" clId="{6EE1027D-695A-4935-8C19-70D48500A80B}" dt="2026-04-08T05:11:43.559" v="4975" actId="33524"/>
          <ac:spMkLst>
            <pc:docMk/>
            <pc:sldMk cId="1911032489" sldId="264"/>
            <ac:spMk id="3" creationId="{4EE7EC97-D3CA-7480-39FE-F055B22AB912}"/>
          </ac:spMkLst>
        </pc:spChg>
      </pc:sldChg>
      <pc:sldChg chg="modSp mod">
        <pc:chgData name="Debasmita Dash" userId="3b68d49dcc510301" providerId="LiveId" clId="{6EE1027D-695A-4935-8C19-70D48500A80B}" dt="2026-04-08T04:47:58.754" v="3841" actId="20577"/>
        <pc:sldMkLst>
          <pc:docMk/>
          <pc:sldMk cId="2123456204" sldId="267"/>
        </pc:sldMkLst>
        <pc:spChg chg="mod">
          <ac:chgData name="Debasmita Dash" userId="3b68d49dcc510301" providerId="LiveId" clId="{6EE1027D-695A-4935-8C19-70D48500A80B}" dt="2026-04-08T04:47:58.754" v="3841" actId="20577"/>
          <ac:spMkLst>
            <pc:docMk/>
            <pc:sldMk cId="2123456204" sldId="267"/>
            <ac:spMk id="3" creationId="{DE183DE5-3196-23C9-57D3-DDE861AD81AA}"/>
          </ac:spMkLst>
        </pc:spChg>
        <pc:spChg chg="mod">
          <ac:chgData name="Debasmita Dash" userId="3b68d49dcc510301" providerId="LiveId" clId="{6EE1027D-695A-4935-8C19-70D48500A80B}" dt="2026-04-08T04:47:26.224" v="3812" actId="20577"/>
          <ac:spMkLst>
            <pc:docMk/>
            <pc:sldMk cId="2123456204" sldId="267"/>
            <ac:spMk id="7" creationId="{607B2E10-0956-16A3-CF4E-CEF16B21860E}"/>
          </ac:spMkLst>
        </pc:spChg>
        <pc:spChg chg="mod">
          <ac:chgData name="Debasmita Dash" userId="3b68d49dcc510301" providerId="LiveId" clId="{6EE1027D-695A-4935-8C19-70D48500A80B}" dt="2026-04-08T04:46:42.650" v="3775" actId="20577"/>
          <ac:spMkLst>
            <pc:docMk/>
            <pc:sldMk cId="2123456204" sldId="267"/>
            <ac:spMk id="8" creationId="{8F113730-306B-8B60-8A75-976180365B4D}"/>
          </ac:spMkLst>
        </pc:spChg>
      </pc:sldChg>
      <pc:sldChg chg="modSp add mod">
        <pc:chgData name="Debasmita Dash" userId="3b68d49dcc510301" providerId="LiveId" clId="{6EE1027D-695A-4935-8C19-70D48500A80B}" dt="2026-04-08T04:42:17.996" v="3553" actId="27636"/>
        <pc:sldMkLst>
          <pc:docMk/>
          <pc:sldMk cId="321837" sldId="269"/>
        </pc:sldMkLst>
        <pc:spChg chg="mod">
          <ac:chgData name="Debasmita Dash" userId="3b68d49dcc510301" providerId="LiveId" clId="{6EE1027D-695A-4935-8C19-70D48500A80B}" dt="2026-04-08T04:42:17.996" v="3553" actId="27636"/>
          <ac:spMkLst>
            <pc:docMk/>
            <pc:sldMk cId="321837" sldId="269"/>
            <ac:spMk id="3" creationId="{307FA5FF-6F2B-21DA-31D3-76907313E894}"/>
          </ac:spMkLst>
        </pc:spChg>
      </pc:sldChg>
      <pc:sldChg chg="modSp add mod">
        <pc:chgData name="Debasmita Dash" userId="3b68d49dcc510301" providerId="LiveId" clId="{6EE1027D-695A-4935-8C19-70D48500A80B}" dt="2026-04-08T05:06:41.510" v="4649" actId="20577"/>
        <pc:sldMkLst>
          <pc:docMk/>
          <pc:sldMk cId="1075119387" sldId="276"/>
        </pc:sldMkLst>
        <pc:spChg chg="mod">
          <ac:chgData name="Debasmita Dash" userId="3b68d49dcc510301" providerId="LiveId" clId="{6EE1027D-695A-4935-8C19-70D48500A80B}" dt="2026-04-08T04:59:38.557" v="4142" actId="20577"/>
          <ac:spMkLst>
            <pc:docMk/>
            <pc:sldMk cId="1075119387" sldId="276"/>
            <ac:spMk id="3" creationId="{CD1ECA6D-E39D-80BA-364D-F807CA989905}"/>
          </ac:spMkLst>
        </pc:spChg>
        <pc:spChg chg="mod">
          <ac:chgData name="Debasmita Dash" userId="3b68d49dcc510301" providerId="LiveId" clId="{6EE1027D-695A-4935-8C19-70D48500A80B}" dt="2026-04-08T05:03:49.431" v="4403" actId="20577"/>
          <ac:spMkLst>
            <pc:docMk/>
            <pc:sldMk cId="1075119387" sldId="276"/>
            <ac:spMk id="7" creationId="{410DCBBD-A2EC-236A-2D99-B02A692FE5A2}"/>
          </ac:spMkLst>
        </pc:spChg>
        <pc:spChg chg="mod">
          <ac:chgData name="Debasmita Dash" userId="3b68d49dcc510301" providerId="LiveId" clId="{6EE1027D-695A-4935-8C19-70D48500A80B}" dt="2026-04-08T05:06:41.510" v="4649" actId="20577"/>
          <ac:spMkLst>
            <pc:docMk/>
            <pc:sldMk cId="1075119387" sldId="276"/>
            <ac:spMk id="8" creationId="{44597E6F-2C68-CA64-906F-EE8B4CA31DA6}"/>
          </ac:spMkLst>
        </pc:spChg>
      </pc:sldChg>
      <pc:sldChg chg="delSp modSp add mod">
        <pc:chgData name="Debasmita Dash" userId="3b68d49dcc510301" providerId="LiveId" clId="{6EE1027D-695A-4935-8C19-70D48500A80B}" dt="2026-04-08T05:11:08.824" v="4974" actId="20577"/>
        <pc:sldMkLst>
          <pc:docMk/>
          <pc:sldMk cId="976932516" sldId="277"/>
        </pc:sldMkLst>
        <pc:spChg chg="mod">
          <ac:chgData name="Debasmita Dash" userId="3b68d49dcc510301" providerId="LiveId" clId="{6EE1027D-695A-4935-8C19-70D48500A80B}" dt="2026-04-08T05:09:12.416" v="4813" actId="20577"/>
          <ac:spMkLst>
            <pc:docMk/>
            <pc:sldMk cId="976932516" sldId="277"/>
            <ac:spMk id="3" creationId="{C7343AD5-77D1-C2CB-4F20-2F800F2E2B5F}"/>
          </ac:spMkLst>
        </pc:spChg>
        <pc:spChg chg="mod">
          <ac:chgData name="Debasmita Dash" userId="3b68d49dcc510301" providerId="LiveId" clId="{6EE1027D-695A-4935-8C19-70D48500A80B}" dt="2026-04-08T05:11:08.824" v="4974" actId="20577"/>
          <ac:spMkLst>
            <pc:docMk/>
            <pc:sldMk cId="976932516" sldId="277"/>
            <ac:spMk id="7" creationId="{40842476-229C-0EC9-C82B-0BEDDBB0A3BE}"/>
          </ac:spMkLst>
        </pc:spChg>
        <pc:spChg chg="del mod">
          <ac:chgData name="Debasmita Dash" userId="3b68d49dcc510301" providerId="LiveId" clId="{6EE1027D-695A-4935-8C19-70D48500A80B}" dt="2026-04-08T05:07:16.115" v="4656" actId="21"/>
          <ac:spMkLst>
            <pc:docMk/>
            <pc:sldMk cId="976932516" sldId="277"/>
            <ac:spMk id="8" creationId="{F9600A77-0CD4-CDB3-61A7-900DAC7B7BE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1D9FA-1D94-41E5-A94C-365472C2542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63536-3D0F-4D0B-8BFB-3A65A1819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05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63536-3D0F-4D0B-8BFB-3A65A18194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82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63536-3D0F-4D0B-8BFB-3A65A18194C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467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7807A-02AC-2806-AA3D-6535016BC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9BDE61-029B-0BD5-6A73-520816410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7CADC3-5275-E2CD-9984-42F9D4947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F970F-C492-645C-B35F-DE893CAE2A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63536-3D0F-4D0B-8BFB-3A65A18194C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817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A167C-F098-5CE4-E878-5CA77945E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EB6B9-8EA2-45AC-5746-30B59E99A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C1BCFA-867B-01FB-C849-73C2625A5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10219-6111-BDB3-8D29-C2530CC2A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63536-3D0F-4D0B-8BFB-3A65A18194C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449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F8C50-3F71-1FF6-88AF-904E9D010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53B15-C17A-0C35-5E0E-6D3AA9D8E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79621-7E02-18FB-D528-4344223EE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E84A3-2663-CCE7-94C1-C4A848169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63536-3D0F-4D0B-8BFB-3A65A18194C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677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0AD30-2E01-21A5-FAB5-BAEC6BF8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A9F0FA-4457-615E-0829-B3C44D2A4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62EEC-0505-79C8-C303-7F4332209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58497-FC68-13F2-7B2C-15EDEF88D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63536-3D0F-4D0B-8BFB-3A65A18194C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422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63536-3D0F-4D0B-8BFB-3A65A18194C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871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199A8-88CF-9AF2-7818-55C04F3F4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30F84-C40A-EC14-0AB5-92FC64077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809FC-0DAD-7712-95E9-F54E4D0B6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3E079-B64A-3C72-9098-33424BB733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63536-3D0F-4D0B-8BFB-3A65A18194C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4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118E5-D0AE-057A-E014-88FDDEFAC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329102-5AFD-7EB5-28C7-2BA7752CC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79720-8394-E128-CFE5-DB4329AE4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861B0-9AA2-2D2A-081E-2876B6E79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63536-3D0F-4D0B-8BFB-3A65A18194C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916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63536-3D0F-4D0B-8BFB-3A65A18194C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66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96F2-02BD-E71F-EFBD-14FECCF2D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7172325" cy="3152251"/>
          </a:xfrm>
        </p:spPr>
        <p:txBody>
          <a:bodyPr anchor="b"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90113-E8E1-4E48-41BC-583802BFC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0137"/>
            <a:ext cx="7172325" cy="112236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C7EE5-BFF0-D779-4261-E239DB45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89492-34ED-FE24-4F29-E4C8F549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0C886-7F1E-7BC1-9A9E-B24C2AC2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74AEE6-9CA7-5247-DC34-99634247DF50}"/>
              </a:ext>
            </a:extLst>
          </p:cNvPr>
          <p:cNvCxnSpPr>
            <a:cxnSpLocks/>
          </p:cNvCxnSpPr>
          <p:nvPr/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079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32FD-157B-437C-E9D5-B66E8B3B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90A51-A7E8-7A6A-5FD0-F9B250BE4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8C8B8-F999-7D95-435D-17CE6ACCD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27265-C89C-937F-1DA3-F377F687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EB89E-4530-3632-3485-F481DB04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17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56A-761D-1DBC-276A-2A46D153C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613" y="1355763"/>
            <a:ext cx="6972300" cy="225579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904B3-6AC1-19D5-3EAE-2009A3B4C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921820"/>
            <a:ext cx="5524500" cy="115093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2A86D-493D-5BF6-8AA6-F1231E3B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CCD76-6623-164A-7BFA-207AFA05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64312-1F20-5486-62B0-A8BB8829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03F1C9-9114-4426-6F07-F7FF9CCD5FC4}"/>
              </a:ext>
            </a:extLst>
          </p:cNvPr>
          <p:cNvCxnSpPr>
            <a:cxnSpLocks/>
          </p:cNvCxnSpPr>
          <p:nvPr/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957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FC4C-4D16-E5A8-F934-8B158F6F2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BDE54-F935-945D-3E4F-B659695E8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2500" y="2286002"/>
            <a:ext cx="5067300" cy="389096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F3710-E06B-05DE-937A-C92E52569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86001"/>
            <a:ext cx="5067300" cy="38909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02EFD-42D3-11C1-677E-0E478B93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C2F08-0D93-B14B-6106-2925DF3E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5DE81-F2AB-CCB9-8B68-5E4F3101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27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D81B-4E36-1511-E9A7-8FB931B41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1004888"/>
            <a:ext cx="10287000" cy="9001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A73DE-183B-9473-20AD-2D3BFED84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1" y="2085959"/>
            <a:ext cx="4886325" cy="590566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0FB3D-60AC-DEF2-4472-31B4E076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1" y="3048001"/>
            <a:ext cx="4886325" cy="32226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6E5BDB-B29C-788F-E2FB-6C154E8FE8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174" y="2085959"/>
            <a:ext cx="4886325" cy="590566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13FF49-3276-24CA-BC81-FA92C0A93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3174" y="3048000"/>
            <a:ext cx="4886325" cy="32226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FA1C8-C196-9BE1-F603-3FC17EDD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B79692-E142-E1D7-AD17-30C5F1365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90FCF2-7B78-2A2A-F878-58335FEA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2D0356-1ECF-682B-F87A-811BDD28B2CB}"/>
              </a:ext>
            </a:extLst>
          </p:cNvPr>
          <p:cNvCxnSpPr>
            <a:cxnSpLocks/>
          </p:cNvCxnSpPr>
          <p:nvPr/>
        </p:nvCxnSpPr>
        <p:spPr>
          <a:xfrm>
            <a:off x="1052513" y="287681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06CA06-9701-E645-C0A5-594B227B288F}"/>
              </a:ext>
            </a:extLst>
          </p:cNvPr>
          <p:cNvCxnSpPr>
            <a:cxnSpLocks/>
          </p:cNvCxnSpPr>
          <p:nvPr/>
        </p:nvCxnSpPr>
        <p:spPr>
          <a:xfrm>
            <a:off x="6435725" y="287681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82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4DA-C0D4-E152-7F42-F6352C96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14400"/>
            <a:ext cx="9715500" cy="990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2AA04-1E84-460C-F560-A228F930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B260E-3910-7D1B-5074-24F5F0AB5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020F1-A878-9B80-6B4F-7D71406B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960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7652D6-7AE9-3E3B-5C1B-2B4399B1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A7127E-2A63-6F45-4C40-83584363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6FB79-D9D1-5381-0019-E24F8B4D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23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23B5-7DA9-0E4F-DA39-4624DB8A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69065"/>
            <a:ext cx="3266536" cy="2312979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A5E77-518A-1FB9-B473-E19CADE04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4423" y="987425"/>
            <a:ext cx="5615077" cy="4873625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5344F-7D06-2406-D113-D24587835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3947801"/>
            <a:ext cx="3266536" cy="23828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BE708-BAD0-A0A6-9332-9D2179E67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70050-9362-4EC4-6B73-3A38445B7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DA991-8608-CAB4-33FA-03D380D2F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34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B837-332D-9100-E007-7DE27948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1385457"/>
            <a:ext cx="3312543" cy="230428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DE983-0B0E-07CC-8C57-4EA529E27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24423" y="957263"/>
            <a:ext cx="5372189" cy="4962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AB867-3FC6-5007-61B0-D9B7E5B0C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3958315"/>
            <a:ext cx="3312542" cy="196147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C7E0F-BFE1-7134-163B-B777970B7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95D0B-4F98-F3BE-FB23-22D8C5D4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B2E3D-2188-B7A9-0ECE-97814735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96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F4143-3C41-D626-8F64-36A9C9F1A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914400"/>
            <a:ext cx="9962791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2C4FB-B560-A0FC-6435-952981BC9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2285997"/>
            <a:ext cx="9962791" cy="38909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CEC4F-0A90-11E2-E43E-B9E765AFB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2A5B4-1D77-B0AC-49E7-CAE9556B1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96EF9-2FDA-8E87-D546-8840CEBF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47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085AB7-38B3-7F80-0B2D-7960F5637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24513" y="1052423"/>
            <a:ext cx="1771292" cy="49170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DBDC3-E9EA-8699-B2E4-4C7784455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6414" y="1052424"/>
            <a:ext cx="7873043" cy="49170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DBEDE-3A67-6FCA-25F3-B91F7C82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EFF51-4318-20EA-3A3A-8FE203B1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D9703-5BAD-DE95-98D9-0F30E7C0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579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5258B98-3BD5-0A20-B0E7-944EAEB2654A}"/>
              </a:ext>
            </a:extLst>
          </p:cNvPr>
          <p:cNvSpPr/>
          <p:nvPr/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404C1-E8A5-65FC-C068-21EA0397E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57238"/>
            <a:ext cx="10287000" cy="1147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CFD78-F171-BA47-AAF3-C6EB75F94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285997"/>
            <a:ext cx="10287000" cy="3890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65A77-B1AB-D608-A6C5-F0F99B691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68087" y="4756249"/>
            <a:ext cx="24763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9D0D92BC-42A9-434B-8530-ADBF4485E40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E34E5-5E9B-7786-05B5-B93241EE2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89519" y="1758059"/>
            <a:ext cx="2433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5CD4B-611E-32FA-419D-326099EEF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9542" y="3246437"/>
            <a:ext cx="533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fld id="{A0289F9E-9962-4B7B-BA18-A15907CCC6B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50" name="Picture 2" descr="Sri Sri University - The Best of East and the Best of West">
            <a:extLst>
              <a:ext uri="{FF2B5EF4-FFF2-40B4-BE49-F238E27FC236}">
                <a16:creationId xmlns:a16="http://schemas.microsoft.com/office/drawing/2014/main" id="{BCEFEE4D-A063-3A3C-BBD3-51E8D8C11F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5121" y="2734722"/>
            <a:ext cx="5061758" cy="175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8A91E5-787E-CE5C-812E-3C97862D4A0B}"/>
              </a:ext>
            </a:extLst>
          </p:cNvPr>
          <p:cNvSpPr txBox="1"/>
          <p:nvPr userDrawn="1"/>
        </p:nvSpPr>
        <p:spPr>
          <a:xfrm>
            <a:off x="3965448" y="6180789"/>
            <a:ext cx="4261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Faculty of Engineering and Technology,</a:t>
            </a:r>
          </a:p>
          <a:p>
            <a:pPr algn="ctr"/>
            <a:r>
              <a:rPr lang="en-US" dirty="0"/>
              <a:t>Sri Sri University, Cuttack.</a:t>
            </a:r>
          </a:p>
        </p:txBody>
      </p:sp>
    </p:spTree>
    <p:extLst>
      <p:ext uri="{BB962C8B-B14F-4D97-AF65-F5344CB8AC3E}">
        <p14:creationId xmlns:p14="http://schemas.microsoft.com/office/powerpoint/2010/main" val="3398358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2120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496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3210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ontiersin.org/journals/computer-science/articles/10.3389/fcomp.2026.1724245/full?utm_source=chatgpt.com" TargetMode="External"/><Relationship Id="rId3" Type="http://schemas.openxmlformats.org/officeDocument/2006/relationships/hyperlink" Target="https://global.asrcconference.com/index.php/asrc/article/view/1?utm_source=chatgpt.com" TargetMode="External"/><Relationship Id="rId7" Type="http://schemas.openxmlformats.org/officeDocument/2006/relationships/hyperlink" Target="https://researchonline.ljmu.ac.uk/id/eprint/13480/1/2020AlhasawiPhD.pdf?utm_source=chatgpt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210.13325?utm_source=chatgpt.com" TargetMode="External"/><Relationship Id="rId5" Type="http://schemas.openxmlformats.org/officeDocument/2006/relationships/hyperlink" Target="https://www.mdpi.com/1999-5903/15/7/241?utm_source=chatgpt.com" TargetMode="External"/><Relationship Id="rId4" Type="http://schemas.openxmlformats.org/officeDocument/2006/relationships/hyperlink" Target="https://arxiv.org/abs/2504.04187?utm_source=chatgpt.com" TargetMode="External"/><Relationship Id="rId9" Type="http://schemas.openxmlformats.org/officeDocument/2006/relationships/hyperlink" Target="https://arxiv.org/abs/2005.00936?utm_source=chatgpt.com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5F58CAA-5B54-5B37-8027-05F3D0E7DADE}"/>
              </a:ext>
            </a:extLst>
          </p:cNvPr>
          <p:cNvSpPr/>
          <p:nvPr/>
        </p:nvSpPr>
        <p:spPr>
          <a:xfrm>
            <a:off x="-21951" y="302171"/>
            <a:ext cx="12412494" cy="6955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E89AF0-59A2-6C3B-22E1-9A83DE76FE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580" y="81114"/>
            <a:ext cx="11957539" cy="2158537"/>
          </a:xfrm>
        </p:spPr>
        <p:txBody>
          <a:bodyPr anchor="b">
            <a:noAutofit/>
          </a:bodyPr>
          <a:lstStyle/>
          <a:p>
            <a:pPr algn="ctr"/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  <a:b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b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ICS -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RedSim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SCADA/ICS Attack Simulation Framework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71FBA-E594-2569-D21A-2E9B6F2F3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500" y="2239651"/>
            <a:ext cx="4913644" cy="2754380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- 1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 Asutosh Das (FET-BCD-2023-27-005)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Aayush Nanda (FET-BCD-2023-27-017)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Amal Antony Alex (FET-BCD-2023-27-020)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Debasmita Dash (FET-BCD-2023-27-028)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Ratnadeep Das (FET-BCD-2023-27-036)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ri Sri University - The Best of East and the Best of West">
            <a:extLst>
              <a:ext uri="{FF2B5EF4-FFF2-40B4-BE49-F238E27FC236}">
                <a16:creationId xmlns:a16="http://schemas.microsoft.com/office/drawing/2014/main" id="{99DD7663-6944-636D-4253-8884687B3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227" y="4756071"/>
            <a:ext cx="3721086" cy="1289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EE5B1B7C-3885-DEBD-2C25-01D7586DA62D}"/>
              </a:ext>
            </a:extLst>
          </p:cNvPr>
          <p:cNvSpPr txBox="1">
            <a:spLocks/>
          </p:cNvSpPr>
          <p:nvPr/>
        </p:nvSpPr>
        <p:spPr>
          <a:xfrm>
            <a:off x="7792817" y="2902225"/>
            <a:ext cx="3255525" cy="8775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Mentor’s Name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Ishita Kosambia                                               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88539BF-6E28-EF93-325E-7A45899DC8AC}"/>
              </a:ext>
            </a:extLst>
          </p:cNvPr>
          <p:cNvSpPr txBox="1">
            <a:spLocks/>
          </p:cNvSpPr>
          <p:nvPr/>
        </p:nvSpPr>
        <p:spPr>
          <a:xfrm>
            <a:off x="2066599" y="5966020"/>
            <a:ext cx="8279296" cy="8775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Engineering &amp; Technology,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University, Cuttack.</a:t>
            </a:r>
          </a:p>
        </p:txBody>
      </p:sp>
    </p:spTree>
    <p:extLst>
      <p:ext uri="{BB962C8B-B14F-4D97-AF65-F5344CB8AC3E}">
        <p14:creationId xmlns:p14="http://schemas.microsoft.com/office/powerpoint/2010/main" val="3927318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92867-10CE-D2D2-9F6F-B26BE299B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A8946-4A0F-451A-27A6-F37E98E1E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376625"/>
            <a:ext cx="10287000" cy="4800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Achieved Outcomes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897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1E0D9-651B-A40A-C77C-AF4BC13FF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01B86-5E6B-4138-95EB-FBDD9712C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818753"/>
            <a:ext cx="10287000" cy="435821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Control Systems (ICS) are specialized computing systems used to control and monitor industrial processes. SCADA systems are a subset of ICS that enable centralized supervision of distributed field devices such as sensors, actuators, and PLCs.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Traditionally, ICS environments were isolated from external networks. However, with the integration of IT and OT networks, these systems are now exposed to cyber threats. Industrial protocols like Modbus/TCP lack encryption and authentication, making them vulnerable to attacks such as command injection, replay attacks, and unauthorized control.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ICS-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RedSim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create a fully virtualized SCADA lab environment that simulates a small-scale water tank process. The system enables controlled cyber-attack simulations and real-time monitoring, helping students and researchers understand ICS security mechanisms.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027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D7B9A-EA45-7D76-C10C-C5D6697BF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A6E1A-6746-AFFA-306F-9CED41CE8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215662"/>
            <a:ext cx="10287000" cy="266700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Control Systems (ICS) and SCADA environments are critical to infrastructure, but testing security on real industrial equipment is costly and risky.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is to design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safe, isolated, and low-cost virtual ICS/SCADA 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simulate industrial processes and common cybersecurity incidents.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enable validation of detection mechanisms using monitoring tools such as IDS and network analyzers — without using real industrial hardware.</a:t>
            </a:r>
          </a:p>
        </p:txBody>
      </p:sp>
    </p:spTree>
    <p:extLst>
      <p:ext uri="{BB962C8B-B14F-4D97-AF65-F5344CB8AC3E}">
        <p14:creationId xmlns:p14="http://schemas.microsoft.com/office/powerpoint/2010/main" val="3499415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8C018-26FD-2031-438C-A6665ED39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379726-C5B7-E62D-84A0-A7DE7B7C03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2500" y="1855777"/>
            <a:ext cx="748474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objectives are: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 a fully virtualized ICS/SCADA lab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Simulate a small industrial process (e.g., tank level or motor control).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 Modbus/TCP-based industrial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Generate controlled ICS security incidents.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Validate detection using monitoring and security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Analyze traffic and logs to identify attacks.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 mitigation strategies and ensure complete isolation from real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199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5132F-B2E7-8731-7F44-A72ACC60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444D2-2255-6BA8-2086-9CCF38031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1067900"/>
            <a:ext cx="10287000" cy="1147762"/>
          </a:xfrm>
        </p:spPr>
        <p:txBody>
          <a:bodyPr anchor="t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05686-5852-D407-307D-29CD234F2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492" y="1813326"/>
            <a:ext cx="10287000" cy="266700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cyber threats in Industrial Control Systems (ICS)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safe environments to test ICS security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hands-on learning in industrial cybersecurity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 and risk of using real industrial hardware</a:t>
            </a:r>
          </a:p>
        </p:txBody>
      </p:sp>
    </p:spTree>
    <p:extLst>
      <p:ext uri="{BB962C8B-B14F-4D97-AF65-F5344CB8AC3E}">
        <p14:creationId xmlns:p14="http://schemas.microsoft.com/office/powerpoint/2010/main" val="1448338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633CB-5C5C-982E-EC09-C876D507B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3951"/>
            <a:ext cx="10287000" cy="719869"/>
          </a:xfrm>
        </p:spPr>
        <p:txBody>
          <a:bodyPr anchor="t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E5CA630B-7C0F-8E4B-6E96-A4693A55F3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3033345"/>
              </p:ext>
            </p:extLst>
          </p:nvPr>
        </p:nvGraphicFramePr>
        <p:xfrm>
          <a:off x="170822" y="781564"/>
          <a:ext cx="11947488" cy="5246718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462224">
                  <a:extLst>
                    <a:ext uri="{9D8B030D-6E8A-4147-A177-3AD203B41FA5}">
                      <a16:colId xmlns:a16="http://schemas.microsoft.com/office/drawing/2014/main" val="3600491401"/>
                    </a:ext>
                  </a:extLst>
                </a:gridCol>
                <a:gridCol w="854110">
                  <a:extLst>
                    <a:ext uri="{9D8B030D-6E8A-4147-A177-3AD203B41FA5}">
                      <a16:colId xmlns:a16="http://schemas.microsoft.com/office/drawing/2014/main" val="1722143225"/>
                    </a:ext>
                  </a:extLst>
                </a:gridCol>
                <a:gridCol w="693336">
                  <a:extLst>
                    <a:ext uri="{9D8B030D-6E8A-4147-A177-3AD203B41FA5}">
                      <a16:colId xmlns:a16="http://schemas.microsoft.com/office/drawing/2014/main" val="2332127981"/>
                    </a:ext>
                  </a:extLst>
                </a:gridCol>
                <a:gridCol w="2401556">
                  <a:extLst>
                    <a:ext uri="{9D8B030D-6E8A-4147-A177-3AD203B41FA5}">
                      <a16:colId xmlns:a16="http://schemas.microsoft.com/office/drawing/2014/main" val="3036803402"/>
                    </a:ext>
                  </a:extLst>
                </a:gridCol>
                <a:gridCol w="2080009">
                  <a:extLst>
                    <a:ext uri="{9D8B030D-6E8A-4147-A177-3AD203B41FA5}">
                      <a16:colId xmlns:a16="http://schemas.microsoft.com/office/drawing/2014/main" val="911376678"/>
                    </a:ext>
                  </a:extLst>
                </a:gridCol>
                <a:gridCol w="2069961">
                  <a:extLst>
                    <a:ext uri="{9D8B030D-6E8A-4147-A177-3AD203B41FA5}">
                      <a16:colId xmlns:a16="http://schemas.microsoft.com/office/drawing/2014/main" val="621933530"/>
                    </a:ext>
                  </a:extLst>
                </a:gridCol>
                <a:gridCol w="1759375">
                  <a:extLst>
                    <a:ext uri="{9D8B030D-6E8A-4147-A177-3AD203B41FA5}">
                      <a16:colId xmlns:a16="http://schemas.microsoft.com/office/drawing/2014/main" val="1482389531"/>
                    </a:ext>
                  </a:extLst>
                </a:gridCol>
                <a:gridCol w="1626917">
                  <a:extLst>
                    <a:ext uri="{9D8B030D-6E8A-4147-A177-3AD203B41FA5}">
                      <a16:colId xmlns:a16="http://schemas.microsoft.com/office/drawing/2014/main" val="3475837534"/>
                    </a:ext>
                  </a:extLst>
                </a:gridCol>
              </a:tblGrid>
              <a:tr h="66290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 Identified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650814"/>
                  </a:ext>
                </a:extLst>
              </a:tr>
              <a:tr h="194153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Skrodelis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Romanovs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Hybrid Intrusion Detection for SCADA/ICS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explainable hybrid IDS models for industrial networks.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signature-based and ML-based detection with explainability techniques.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detection transparency and reduced false positives.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Emphasis on IDS performance, not on full ICS testbed integration.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259080"/>
                  </a:ext>
                </a:extLst>
              </a:tr>
              <a:tr h="239077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Mujeeb Ahmed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AttackLLM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LLM-based Attack Pattern Generation for an Industrial Control System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generate scalable attack patterns for ICS using large language models (LLMs) to overcome scarcity of real attack datasets.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LLM-based data generation combining design-centric and data-centric techniques to produce diverse attack scenarios.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scalable attack generation without expensive physical testbeds.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dataset generation rather than integration with full ICS simulation or real-time detection validation. 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036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26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9E3D5-8548-6FF7-F623-81C0B8CE0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38A72-AF64-CD4F-189A-540586FC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3951"/>
            <a:ext cx="10287000" cy="719869"/>
          </a:xfrm>
        </p:spPr>
        <p:txBody>
          <a:bodyPr anchor="t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09790DB2-970F-B4E7-A94F-E292201717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0637993"/>
              </p:ext>
            </p:extLst>
          </p:nvPr>
        </p:nvGraphicFramePr>
        <p:xfrm>
          <a:off x="170822" y="781564"/>
          <a:ext cx="11947488" cy="5246718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462224">
                  <a:extLst>
                    <a:ext uri="{9D8B030D-6E8A-4147-A177-3AD203B41FA5}">
                      <a16:colId xmlns:a16="http://schemas.microsoft.com/office/drawing/2014/main" val="3600491401"/>
                    </a:ext>
                  </a:extLst>
                </a:gridCol>
                <a:gridCol w="854110">
                  <a:extLst>
                    <a:ext uri="{9D8B030D-6E8A-4147-A177-3AD203B41FA5}">
                      <a16:colId xmlns:a16="http://schemas.microsoft.com/office/drawing/2014/main" val="1722143225"/>
                    </a:ext>
                  </a:extLst>
                </a:gridCol>
                <a:gridCol w="693336">
                  <a:extLst>
                    <a:ext uri="{9D8B030D-6E8A-4147-A177-3AD203B41FA5}">
                      <a16:colId xmlns:a16="http://schemas.microsoft.com/office/drawing/2014/main" val="2332127981"/>
                    </a:ext>
                  </a:extLst>
                </a:gridCol>
                <a:gridCol w="2401556">
                  <a:extLst>
                    <a:ext uri="{9D8B030D-6E8A-4147-A177-3AD203B41FA5}">
                      <a16:colId xmlns:a16="http://schemas.microsoft.com/office/drawing/2014/main" val="3036803402"/>
                    </a:ext>
                  </a:extLst>
                </a:gridCol>
                <a:gridCol w="2080009">
                  <a:extLst>
                    <a:ext uri="{9D8B030D-6E8A-4147-A177-3AD203B41FA5}">
                      <a16:colId xmlns:a16="http://schemas.microsoft.com/office/drawing/2014/main" val="911376678"/>
                    </a:ext>
                  </a:extLst>
                </a:gridCol>
                <a:gridCol w="2069961">
                  <a:extLst>
                    <a:ext uri="{9D8B030D-6E8A-4147-A177-3AD203B41FA5}">
                      <a16:colId xmlns:a16="http://schemas.microsoft.com/office/drawing/2014/main" val="621933530"/>
                    </a:ext>
                  </a:extLst>
                </a:gridCol>
                <a:gridCol w="1759375">
                  <a:extLst>
                    <a:ext uri="{9D8B030D-6E8A-4147-A177-3AD203B41FA5}">
                      <a16:colId xmlns:a16="http://schemas.microsoft.com/office/drawing/2014/main" val="1482389531"/>
                    </a:ext>
                  </a:extLst>
                </a:gridCol>
                <a:gridCol w="1626917">
                  <a:extLst>
                    <a:ext uri="{9D8B030D-6E8A-4147-A177-3AD203B41FA5}">
                      <a16:colId xmlns:a16="http://schemas.microsoft.com/office/drawing/2014/main" val="3475837534"/>
                    </a:ext>
                  </a:extLst>
                </a:gridCol>
              </a:tblGrid>
              <a:tr h="66290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 Identified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650814"/>
                  </a:ext>
                </a:extLst>
              </a:tr>
              <a:tr h="194153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Gulzar &amp; Mustafa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Cyberattack Detection in ICS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cyberattacks in ICS using deep learning models..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neural networks to industrial network traffic datasets.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high accuracy in identifying unknown attacks.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dataset-based evaluation; lacks real-time attack simulation environment.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259080"/>
                  </a:ext>
                </a:extLst>
              </a:tr>
              <a:tr h="239077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Mane et al.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Learning-Based IDS for Modbus Industrial Networks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detection of Modbus-based attacks using ensemble ML.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Trained</a:t>
                      </a:r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ensemble </a:t>
                      </a:r>
                      <a:r>
                        <a:rPr lang="fr-FR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classifiers</a:t>
                      </a:r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Modbus </a:t>
                      </a:r>
                      <a:r>
                        <a:rPr lang="fr-FR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</a:t>
                      </a:r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detection rates compared to single-model approaches..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detection model; no integrated Red vs Blue lab validation.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036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311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F526B-9810-B93A-3DCC-AEDB29841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D386-EC36-5619-CE82-0C74CB13A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3951"/>
            <a:ext cx="10287000" cy="719869"/>
          </a:xfrm>
        </p:spPr>
        <p:txBody>
          <a:bodyPr anchor="t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3CADA7B1-589F-E716-9B22-DFC1A8242B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8785893"/>
              </p:ext>
            </p:extLst>
          </p:nvPr>
        </p:nvGraphicFramePr>
        <p:xfrm>
          <a:off x="170822" y="781564"/>
          <a:ext cx="11947488" cy="5246718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462224">
                  <a:extLst>
                    <a:ext uri="{9D8B030D-6E8A-4147-A177-3AD203B41FA5}">
                      <a16:colId xmlns:a16="http://schemas.microsoft.com/office/drawing/2014/main" val="3600491401"/>
                    </a:ext>
                  </a:extLst>
                </a:gridCol>
                <a:gridCol w="854110">
                  <a:extLst>
                    <a:ext uri="{9D8B030D-6E8A-4147-A177-3AD203B41FA5}">
                      <a16:colId xmlns:a16="http://schemas.microsoft.com/office/drawing/2014/main" val="1722143225"/>
                    </a:ext>
                  </a:extLst>
                </a:gridCol>
                <a:gridCol w="693336">
                  <a:extLst>
                    <a:ext uri="{9D8B030D-6E8A-4147-A177-3AD203B41FA5}">
                      <a16:colId xmlns:a16="http://schemas.microsoft.com/office/drawing/2014/main" val="2332127981"/>
                    </a:ext>
                  </a:extLst>
                </a:gridCol>
                <a:gridCol w="2401556">
                  <a:extLst>
                    <a:ext uri="{9D8B030D-6E8A-4147-A177-3AD203B41FA5}">
                      <a16:colId xmlns:a16="http://schemas.microsoft.com/office/drawing/2014/main" val="3036803402"/>
                    </a:ext>
                  </a:extLst>
                </a:gridCol>
                <a:gridCol w="2080009">
                  <a:extLst>
                    <a:ext uri="{9D8B030D-6E8A-4147-A177-3AD203B41FA5}">
                      <a16:colId xmlns:a16="http://schemas.microsoft.com/office/drawing/2014/main" val="911376678"/>
                    </a:ext>
                  </a:extLst>
                </a:gridCol>
                <a:gridCol w="2069961">
                  <a:extLst>
                    <a:ext uri="{9D8B030D-6E8A-4147-A177-3AD203B41FA5}">
                      <a16:colId xmlns:a16="http://schemas.microsoft.com/office/drawing/2014/main" val="621933530"/>
                    </a:ext>
                  </a:extLst>
                </a:gridCol>
                <a:gridCol w="1759375">
                  <a:extLst>
                    <a:ext uri="{9D8B030D-6E8A-4147-A177-3AD203B41FA5}">
                      <a16:colId xmlns:a16="http://schemas.microsoft.com/office/drawing/2014/main" val="1482389531"/>
                    </a:ext>
                  </a:extLst>
                </a:gridCol>
                <a:gridCol w="1626917">
                  <a:extLst>
                    <a:ext uri="{9D8B030D-6E8A-4147-A177-3AD203B41FA5}">
                      <a16:colId xmlns:a16="http://schemas.microsoft.com/office/drawing/2014/main" val="3475837534"/>
                    </a:ext>
                  </a:extLst>
                </a:gridCol>
              </a:tblGrid>
              <a:tr h="66290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 Identified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650814"/>
                  </a:ext>
                </a:extLst>
              </a:tr>
              <a:tr h="194153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Elmarkez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Security-by-Design in Industrial Control Systems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security-by-design approaches for ICS/CPS environments.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mapping study of ICS security design frameworks.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security integration improves resilience of industrial systems.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Conceptual focus; does not provide a practical attack simulation lab.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259080"/>
                  </a:ext>
                </a:extLst>
              </a:tr>
              <a:tr h="239077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Bajwa et al.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Cybersecurity in Industrial Control Systems: A Systematic Literature Review on AI-Based Threat Detection for SCADA &amp; IoT Networks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AI techniques for ICS threat detection.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review of research papers (2015–2024).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ML/DL models achieve high anomaly detection accuracy (&gt;90%).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detection models, not integrated attack simulation labs.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036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9620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D37C9-7821-343F-D8B7-19548AA0C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96209-F062-697F-90D3-03AD8330B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3951"/>
            <a:ext cx="10287000" cy="719869"/>
          </a:xfrm>
        </p:spPr>
        <p:txBody>
          <a:bodyPr anchor="t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5FCC85F7-C7F8-D847-AE50-BE8E4C78B7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5781100"/>
              </p:ext>
            </p:extLst>
          </p:nvPr>
        </p:nvGraphicFramePr>
        <p:xfrm>
          <a:off x="170822" y="721276"/>
          <a:ext cx="11947488" cy="54559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562708">
                  <a:extLst>
                    <a:ext uri="{9D8B030D-6E8A-4147-A177-3AD203B41FA5}">
                      <a16:colId xmlns:a16="http://schemas.microsoft.com/office/drawing/2014/main" val="3600491401"/>
                    </a:ext>
                  </a:extLst>
                </a:gridCol>
                <a:gridCol w="753626">
                  <a:extLst>
                    <a:ext uri="{9D8B030D-6E8A-4147-A177-3AD203B41FA5}">
                      <a16:colId xmlns:a16="http://schemas.microsoft.com/office/drawing/2014/main" val="1722143225"/>
                    </a:ext>
                  </a:extLst>
                </a:gridCol>
                <a:gridCol w="693336">
                  <a:extLst>
                    <a:ext uri="{9D8B030D-6E8A-4147-A177-3AD203B41FA5}">
                      <a16:colId xmlns:a16="http://schemas.microsoft.com/office/drawing/2014/main" val="2332127981"/>
                    </a:ext>
                  </a:extLst>
                </a:gridCol>
                <a:gridCol w="1537398">
                  <a:extLst>
                    <a:ext uri="{9D8B030D-6E8A-4147-A177-3AD203B41FA5}">
                      <a16:colId xmlns:a16="http://schemas.microsoft.com/office/drawing/2014/main" val="3036803402"/>
                    </a:ext>
                  </a:extLst>
                </a:gridCol>
                <a:gridCol w="2220686">
                  <a:extLst>
                    <a:ext uri="{9D8B030D-6E8A-4147-A177-3AD203B41FA5}">
                      <a16:colId xmlns:a16="http://schemas.microsoft.com/office/drawing/2014/main" val="911376678"/>
                    </a:ext>
                  </a:extLst>
                </a:gridCol>
                <a:gridCol w="2039815">
                  <a:extLst>
                    <a:ext uri="{9D8B030D-6E8A-4147-A177-3AD203B41FA5}">
                      <a16:colId xmlns:a16="http://schemas.microsoft.com/office/drawing/2014/main" val="621933530"/>
                    </a:ext>
                  </a:extLst>
                </a:gridCol>
                <a:gridCol w="1939332">
                  <a:extLst>
                    <a:ext uri="{9D8B030D-6E8A-4147-A177-3AD203B41FA5}">
                      <a16:colId xmlns:a16="http://schemas.microsoft.com/office/drawing/2014/main" val="1482389531"/>
                    </a:ext>
                  </a:extLst>
                </a:gridCol>
                <a:gridCol w="2200587">
                  <a:extLst>
                    <a:ext uri="{9D8B030D-6E8A-4147-A177-3AD203B41FA5}">
                      <a16:colId xmlns:a16="http://schemas.microsoft.com/office/drawing/2014/main" val="3475837534"/>
                    </a:ext>
                  </a:extLst>
                </a:gridCol>
              </a:tblGrid>
              <a:tr h="32869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 Identified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650814"/>
                  </a:ext>
                </a:extLst>
              </a:tr>
              <a:tr h="1672106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Mesbah et al.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 of ICS and SCADA Systems Attacks Using Honeypots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examine the use of SCADA honeypots for detecting and analyzing attacks on industrial control systems. 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 of SCADA honeypots in simulated ICS network environments to observe attack behavior and collect threat data. 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Honeypots can provide early detection of malicious activity, reveal attacker techniques, and identify network weaknesses in ICS environments.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honeypot detection, but lacks integration with full incident simulation frameworks and validation of detection tools like IDS/SIEM in an educational lab setting.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259080"/>
                  </a:ext>
                </a:extLst>
              </a:tr>
              <a:tr h="239077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Dehlaghi-Ghadim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ICSSIM – A Framework for Building Industrial Control Systems Security Testbeds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create a customizable, low-cost virtual ICS security testbed for research.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the ICSSIM framework using Docker to simulate ICS components and network communications, enabling cyber-attack testing within a virtual environment.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ICSSIM provides an adaptable and reproducible platform for modeling industrial processes, generating cyberthreats, and testing security mechanisms.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Emphasis on testbed construction with less focus on integrated monitoring validation (e.g., IDS/SIEM correlation) and structured Red vs Blue educational workflow.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036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0100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D54DC-A2E2-161D-0130-6E1D3E8A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C5D5A-6792-B7D0-0786-B0DAE7D20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3951"/>
            <a:ext cx="10287000" cy="719869"/>
          </a:xfrm>
        </p:spPr>
        <p:txBody>
          <a:bodyPr anchor="t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FA2F5123-1B96-8BA0-ECFB-0F028DA4CD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215232"/>
              </p:ext>
            </p:extLst>
          </p:nvPr>
        </p:nvGraphicFramePr>
        <p:xfrm>
          <a:off x="170822" y="721276"/>
          <a:ext cx="11947488" cy="484202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562708">
                  <a:extLst>
                    <a:ext uri="{9D8B030D-6E8A-4147-A177-3AD203B41FA5}">
                      <a16:colId xmlns:a16="http://schemas.microsoft.com/office/drawing/2014/main" val="3600491401"/>
                    </a:ext>
                  </a:extLst>
                </a:gridCol>
                <a:gridCol w="753626">
                  <a:extLst>
                    <a:ext uri="{9D8B030D-6E8A-4147-A177-3AD203B41FA5}">
                      <a16:colId xmlns:a16="http://schemas.microsoft.com/office/drawing/2014/main" val="1722143225"/>
                    </a:ext>
                  </a:extLst>
                </a:gridCol>
                <a:gridCol w="693336">
                  <a:extLst>
                    <a:ext uri="{9D8B030D-6E8A-4147-A177-3AD203B41FA5}">
                      <a16:colId xmlns:a16="http://schemas.microsoft.com/office/drawing/2014/main" val="2332127981"/>
                    </a:ext>
                  </a:extLst>
                </a:gridCol>
                <a:gridCol w="1537398">
                  <a:extLst>
                    <a:ext uri="{9D8B030D-6E8A-4147-A177-3AD203B41FA5}">
                      <a16:colId xmlns:a16="http://schemas.microsoft.com/office/drawing/2014/main" val="3036803402"/>
                    </a:ext>
                  </a:extLst>
                </a:gridCol>
                <a:gridCol w="2220686">
                  <a:extLst>
                    <a:ext uri="{9D8B030D-6E8A-4147-A177-3AD203B41FA5}">
                      <a16:colId xmlns:a16="http://schemas.microsoft.com/office/drawing/2014/main" val="911376678"/>
                    </a:ext>
                  </a:extLst>
                </a:gridCol>
                <a:gridCol w="2039815">
                  <a:extLst>
                    <a:ext uri="{9D8B030D-6E8A-4147-A177-3AD203B41FA5}">
                      <a16:colId xmlns:a16="http://schemas.microsoft.com/office/drawing/2014/main" val="621933530"/>
                    </a:ext>
                  </a:extLst>
                </a:gridCol>
                <a:gridCol w="1939332">
                  <a:extLst>
                    <a:ext uri="{9D8B030D-6E8A-4147-A177-3AD203B41FA5}">
                      <a16:colId xmlns:a16="http://schemas.microsoft.com/office/drawing/2014/main" val="1482389531"/>
                    </a:ext>
                  </a:extLst>
                </a:gridCol>
                <a:gridCol w="2200587">
                  <a:extLst>
                    <a:ext uri="{9D8B030D-6E8A-4147-A177-3AD203B41FA5}">
                      <a16:colId xmlns:a16="http://schemas.microsoft.com/office/drawing/2014/main" val="3475837534"/>
                    </a:ext>
                  </a:extLst>
                </a:gridCol>
              </a:tblGrid>
              <a:tr h="32869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 Identified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650814"/>
                  </a:ext>
                </a:extLst>
              </a:tr>
              <a:tr h="167210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Cao et al.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for Intrusion Detection in ICS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ML-based IDS for industrial networks.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supervised learning models to ICS traffic datasets.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detection of unknown attack patterns.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Dataset-oriented research; no full virtual ICS simulation setup.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259080"/>
                  </a:ext>
                </a:extLst>
              </a:tr>
              <a:tr h="23907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Sulaiman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Alhasawi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ICSrank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 Security Assessment Framework for Industrial Control Systems (ICS)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develop a security risk assessment framework (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ICSrank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that evaluates and ranks the cybersecurity risk of ICS devices based on open-source intelligence (OSINT)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mathematical algorithm-based framework to collect, categorize, and assess OSINT data related to ICS devices to determine their risk levels. 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ICSrank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provided more detailed and informative risk evaluations compared to traditional methods, helping identify vulnerable devices and high-risk exposure points. 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risk ranking of publicly exposed ICS assets but does not include simulated attack scenarios or practical frameworks for attack detection and response in virtual ICS testbeds.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036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291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A81FB-0EC2-5400-8464-F84AF59F9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7EC97-D3CA-7480-39FE-F055B22AB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773530"/>
            <a:ext cx="10287000" cy="389096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the problem, we propose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ICS–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RedSim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fully virtualized ICS/SCADA lab framework.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includes: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mini-industrial plant simulation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(tank + motor system)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Modbus/TCP communication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attack/anomaly simulation scenarios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IDS and monitoring tools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PCAPs, logs, and alert evidence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of detection and response mechanisms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032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94285-E283-83B7-F144-0B3BF4F29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16EEF-D771-9FD0-D0E0-DAAFEA5AA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FA5FF-6F2B-21DA-31D3-76907313E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OpenPLC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simulate the PLC controller and execute ladder logic for the industrial process via Modbus/TCP.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FUXA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as the SCADA/HMI dashboard to monitor and control process variables in real time.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Wazuh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as a SIEM platform to collect logs, analyze events, and generate security alerts.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Suricata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as a network intrusion detection system (IDS) to monitor and detect malicious traffic.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Wireshark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capture and analyze Modbus/TCP network traffic for attack validation.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Kali Linux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as the attacker machine to simulate controlled ICS cyber-attacks.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VirtualBox / VMware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create a fully isolated virtual lab environment for safe experimentation.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92697-7774-BD94-E17A-018182F00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5247-EADE-BF3D-8561-658E26701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E9E82-02A8-D4B8-2D35-217212590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limited to a simulated ICS/SCADA environment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educational and research-based attack simulations are performed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real-world industrial systems are connected or affected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is on Red Team attack simulation and traffic analysis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and Mitigations for the systems </a:t>
            </a:r>
          </a:p>
        </p:txBody>
      </p:sp>
    </p:spTree>
    <p:extLst>
      <p:ext uri="{BB962C8B-B14F-4D97-AF65-F5344CB8AC3E}">
        <p14:creationId xmlns:p14="http://schemas.microsoft.com/office/powerpoint/2010/main" val="3772818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35F89-34BE-D4CE-AF2E-53C98F03F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31597"/>
            <a:ext cx="10287000" cy="55852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A4D07E2-7062-A1A7-83BA-A237E4A138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6664578"/>
              </p:ext>
            </p:extLst>
          </p:nvPr>
        </p:nvGraphicFramePr>
        <p:xfrm>
          <a:off x="952500" y="1256044"/>
          <a:ext cx="10287000" cy="4514677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27196338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3659253493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37347748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1140400871"/>
                    </a:ext>
                  </a:extLst>
                </a:gridCol>
              </a:tblGrid>
              <a:tr h="5810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Phase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Timeline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Primary Objective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 Deliverable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495003"/>
                  </a:ext>
                </a:extLst>
              </a:tr>
              <a:tr h="9833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I: Design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Week 1-2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Lab setup &amp; PLC Logic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Architecture Diagram &amp; IP Plan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498443"/>
                  </a:ext>
                </a:extLst>
              </a:tr>
              <a:tr h="9833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II: Simulation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Week 3-4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HMI &amp; Process Twin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Working Dashboard &amp; Simulation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690661"/>
                  </a:ext>
                </a:extLst>
              </a:tr>
              <a:tr h="9833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III: Defense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Week 5-6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Baseline &amp; IDS Tuning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Traffic PCAPs &amp; Suricata Logs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947028"/>
                  </a:ext>
                </a:extLst>
              </a:tr>
              <a:tr h="9833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IV: Validation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Week 7-8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Attack Simulations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Scenario Playbook &amp; Final Report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26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868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CEA0D-8D2B-5CF6-4319-4CBF1668A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764" y="295026"/>
            <a:ext cx="10287000" cy="498806"/>
          </a:xfrm>
        </p:spPr>
        <p:txBody>
          <a:bodyPr anchor="t"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83DE5-3196-23C9-57D3-DDE861AD8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274" y="1574250"/>
            <a:ext cx="3336056" cy="36910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 – Lab Architecture Design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project scope and safety rules (isolated lab environment)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tools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zone-based architecture (IT, OT, Monitoring)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IP addressing plan</a:t>
            </a:r>
          </a:p>
          <a:p>
            <a:pPr marL="0" indent="0">
              <a:buNone/>
            </a:pPr>
            <a:endParaRPr lang="en-IN" sz="1700" dirty="0"/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07B2E10-0956-16A3-CF4E-CEF16B21860E}"/>
              </a:ext>
            </a:extLst>
          </p:cNvPr>
          <p:cNvSpPr txBox="1">
            <a:spLocks/>
          </p:cNvSpPr>
          <p:nvPr/>
        </p:nvSpPr>
        <p:spPr>
          <a:xfrm>
            <a:off x="3959045" y="1614441"/>
            <a:ext cx="3336057" cy="38518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6032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20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210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 – Build OT Network &amp; Install PLC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isolated VirtualBox host-only network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Installed &amp; configured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OpenPLC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basic PLC logic (tank level + motor control)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Modbus register mapping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1700" dirty="0"/>
          </a:p>
          <a:p>
            <a:endParaRPr lang="en-IN" sz="1700" dirty="0"/>
          </a:p>
          <a:p>
            <a:endParaRPr lang="en-US" sz="17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113730-306B-8B60-8A75-976180365B4D}"/>
              </a:ext>
            </a:extLst>
          </p:cNvPr>
          <p:cNvSpPr txBox="1">
            <a:spLocks/>
          </p:cNvSpPr>
          <p:nvPr/>
        </p:nvSpPr>
        <p:spPr>
          <a:xfrm>
            <a:off x="8008536" y="1636217"/>
            <a:ext cx="3918860" cy="3478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6032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20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210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 – Industrial Process Simulation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process model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PLC Logic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process from PLC side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PLC performance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1700" dirty="0"/>
          </a:p>
          <a:p>
            <a:endParaRPr lang="en-IN" sz="1700" dirty="0"/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123456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14E59-95F5-1344-CE19-39C1FF6F9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724BD-67F8-B556-287D-9C6FF7211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764" y="295026"/>
            <a:ext cx="10287000" cy="498806"/>
          </a:xfrm>
        </p:spPr>
        <p:txBody>
          <a:bodyPr anchor="t"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ECA6D-E39D-80BA-364D-F807CA989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274" y="1574250"/>
            <a:ext cx="3336056" cy="3691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4 – Build SCADA/HMI using FUXA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SCADA Virtual Machine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FUXA SCADA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SCADA Interface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FUXA to PLC (Modus TCP)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Data Tags &amp; Build HMI</a:t>
            </a:r>
          </a:p>
          <a:p>
            <a:pPr marL="0" indent="0">
              <a:buNone/>
            </a:pPr>
            <a:endParaRPr lang="en-IN" sz="1700" dirty="0"/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10DCBBD-A2EC-236A-2D99-B02A692FE5A2}"/>
              </a:ext>
            </a:extLst>
          </p:cNvPr>
          <p:cNvSpPr txBox="1">
            <a:spLocks/>
          </p:cNvSpPr>
          <p:nvPr/>
        </p:nvSpPr>
        <p:spPr>
          <a:xfrm>
            <a:off x="3959045" y="1614441"/>
            <a:ext cx="3336057" cy="38518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6032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20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210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5 – Baseline Traffic Capture &amp; Analysis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Packet Analyzer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Packet Capture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Normal Plant Traffic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Protocol Filters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Normal Traffic Pattern</a:t>
            </a:r>
            <a:endParaRPr lang="en-IN" sz="1700" dirty="0"/>
          </a:p>
          <a:p>
            <a:endParaRPr lang="en-IN" sz="1700" dirty="0"/>
          </a:p>
          <a:p>
            <a:endParaRPr lang="en-US" sz="17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597E6F-2C68-CA64-906F-EE8B4CA31DA6}"/>
              </a:ext>
            </a:extLst>
          </p:cNvPr>
          <p:cNvSpPr txBox="1">
            <a:spLocks/>
          </p:cNvSpPr>
          <p:nvPr/>
        </p:nvSpPr>
        <p:spPr>
          <a:xfrm>
            <a:off x="8008536" y="1636217"/>
            <a:ext cx="3918860" cy="3478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6032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20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210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6 – Install IDS Monitoring (Suricata + </a:t>
            </a:r>
            <a:r>
              <a:rPr lang="en-IN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Wazuh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Architecture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Suricata IDS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Suricata for ICS Monitoring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IDS Visibility &amp; Enable Detection rules</a:t>
            </a:r>
            <a:endParaRPr lang="en-IN" sz="1700" dirty="0"/>
          </a:p>
          <a:p>
            <a:endParaRPr lang="en-IN" sz="1700" dirty="0"/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075119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BC5E3-1B2A-2E0B-2C64-FC777F5DC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5516F-83D4-6E17-C8C1-7AA24642E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764" y="295026"/>
            <a:ext cx="10287000" cy="498806"/>
          </a:xfrm>
        </p:spPr>
        <p:txBody>
          <a:bodyPr anchor="t"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43AD5-77D1-C2CB-4F20-2F800F2E2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274" y="1574250"/>
            <a:ext cx="3336056" cy="3691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7 – Scenario Library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Methodology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Integrity Attack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Validation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to Capture</a:t>
            </a:r>
          </a:p>
          <a:p>
            <a:pPr marL="0" indent="0">
              <a:buNone/>
            </a:pPr>
            <a:endParaRPr lang="en-IN" sz="1700" dirty="0"/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842476-229C-0EC9-C82B-0BEDDBB0A3BE}"/>
              </a:ext>
            </a:extLst>
          </p:cNvPr>
          <p:cNvSpPr txBox="1">
            <a:spLocks/>
          </p:cNvSpPr>
          <p:nvPr/>
        </p:nvSpPr>
        <p:spPr>
          <a:xfrm>
            <a:off x="4200205" y="1574250"/>
            <a:ext cx="3336057" cy="3851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6032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20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210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8 – Integration, Report &amp; Demo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System Integration Test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Report Structure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&amp; Demo</a:t>
            </a:r>
            <a:endParaRPr lang="en-IN" sz="1700" dirty="0"/>
          </a:p>
          <a:p>
            <a:endParaRPr lang="en-IN" sz="1700" dirty="0"/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976932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5D3B4-9D31-CEC8-1B6F-5BA9D684C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64464-7E99-F0D4-C100-B7B13A8DE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1104304"/>
            <a:ext cx="10139172" cy="669226"/>
          </a:xfrm>
        </p:spPr>
        <p:txBody>
          <a:bodyPr anchor="t"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ACHIEVED OUTCOMES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99BF5-DB36-F61F-96EB-691B1E65B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066138"/>
            <a:ext cx="10287000" cy="3890965"/>
          </a:xfrm>
        </p:spPr>
        <p:txBody>
          <a:bodyPr/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virtual ICS/SCADA lab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OpenPLC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FUXA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simulated industrial process (tank + motor)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cyber-attacks (scanning, Modbus misuse, anomalies)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Suricata IDS &amp;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Wazuh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detected attacks in real-time 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traffic using Wireshark (PCAP validation)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 safe, low-cost platform for ICS security testing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231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E210F-9949-EF8D-97E3-7CE108A1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2BFCD-0E77-8254-6156-B49A34855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6A8D0-6C7F-A883-A44A-701525B64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275949"/>
            <a:ext cx="10287000" cy="389096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ICS–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RedSim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virtual ICS/SCADA attack simulation framework developed for academic and research purposes. It demonstrates how industrial processes can be simulated and how security incidents can be generated and detected in a controlled, isolated environment.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Red Team attack simulation with Blue Team monitoring and detection, the project highlights the importance of intrusion detection and log analysis in industrial cybersecurity. The framework provides a low-cost, scalable, and safe platform for practical ICS security training and future research.</a:t>
            </a:r>
          </a:p>
        </p:txBody>
      </p:sp>
    </p:spTree>
    <p:extLst>
      <p:ext uri="{BB962C8B-B14F-4D97-AF65-F5344CB8AC3E}">
        <p14:creationId xmlns:p14="http://schemas.microsoft.com/office/powerpoint/2010/main" val="1021414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87089-9BE8-0F05-25C8-E6EC2DEA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C80B1-0E0C-1374-1318-9F3F010F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23" y="174435"/>
            <a:ext cx="10287000" cy="579193"/>
          </a:xfrm>
        </p:spPr>
        <p:txBody>
          <a:bodyPr anchor="t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D1104F-1858-B1CC-5AE6-3009D648D5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0813" y="1524669"/>
            <a:ext cx="10794024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 Industrial Control Systems: A Systematic Literature Review on AI-Based Threat Detection for SCADA &amp; IoT Networks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https://global.asrcconference.com/index.php/asrc/article/view/1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AttackLLM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LLM-based Attack Pattern Generation for an Industrial Control System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https://arxiv.org/abs/2504.04187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Analysis of ICS and SCADA Systems Attacks Using Honeypots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https://www.mdpi.com/1999-5903/15/7/241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ICSSIM – A Framework for Building Industrial Control Systems Security Testbeds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https://arxiv.org/abs/2210.13325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ICSrank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Security Assessment Framework for Industrial Control Systems (PhD Thesis)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https://researchonline.ljmu.ac.uk/id/eprint/13480/1/2020AlhasawiPhD.pdf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Explainable Hybrid Intrusion Detection for SCADA/ICS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https://www.frontiersin.org/journals/computer-science/articles/10.3389/fcomp.2026.1724245/full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Deep Learning-Based Cyberattack Detection in Industrial Control System (Ensemble Model)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https://arxiv.org/abs/2005.00936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39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1D922-2303-403B-C80C-06A700728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041" y="2411604"/>
            <a:ext cx="10287000" cy="217002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4057630"/>
      </p:ext>
    </p:extLst>
  </p:cSld>
  <p:clrMapOvr>
    <a:masterClrMapping/>
  </p:clrMapOvr>
</p:sld>
</file>

<file path=ppt/theme/theme1.xml><?xml version="1.0" encoding="utf-8"?>
<a:theme xmlns:a="http://schemas.openxmlformats.org/drawingml/2006/main" name="AfterglowVTI">
  <a:themeElements>
    <a:clrScheme name="AnalogousFromLightSeedLeftStep">
      <a:dk1>
        <a:srgbClr val="000000"/>
      </a:dk1>
      <a:lt1>
        <a:srgbClr val="FFFFFF"/>
      </a:lt1>
      <a:dk2>
        <a:srgbClr val="233A3E"/>
      </a:dk2>
      <a:lt2>
        <a:srgbClr val="E8E8E2"/>
      </a:lt2>
      <a:accent1>
        <a:srgbClr val="9697C6"/>
      </a:accent1>
      <a:accent2>
        <a:srgbClr val="7F99BA"/>
      </a:accent2>
      <a:accent3>
        <a:srgbClr val="80ABB3"/>
      </a:accent3>
      <a:accent4>
        <a:srgbClr val="78B0A1"/>
      </a:accent4>
      <a:accent5>
        <a:srgbClr val="84AE91"/>
      </a:accent5>
      <a:accent6>
        <a:srgbClr val="7FB179"/>
      </a:accent6>
      <a:hlink>
        <a:srgbClr val="868551"/>
      </a:hlink>
      <a:folHlink>
        <a:srgbClr val="7F7F7F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terglowVTI" id="{804DBEB7-1920-4C72-A0CB-091339F1875F}" vid="{D4C59F5A-9ECA-4C96-BDFD-0606A75324E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2063</TotalTime>
  <Words>2097</Words>
  <Application>Microsoft Office PowerPoint</Application>
  <PresentationFormat>Widescreen</PresentationFormat>
  <Paragraphs>290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Google Sans Text</vt:lpstr>
      <vt:lpstr>Times New Roman</vt:lpstr>
      <vt:lpstr>Trade Gothic Next Cond</vt:lpstr>
      <vt:lpstr>Trade Gothic Next Light</vt:lpstr>
      <vt:lpstr>AfterglowVTI</vt:lpstr>
      <vt:lpstr>Project Presentation on ICS - RedSim: SCADA/ICS Attack Simulation Framework </vt:lpstr>
      <vt:lpstr>Contents:</vt:lpstr>
      <vt:lpstr>Introduction</vt:lpstr>
      <vt:lpstr>Problem statement</vt:lpstr>
      <vt:lpstr>Objective</vt:lpstr>
      <vt:lpstr>MOTIVATION</vt:lpstr>
      <vt:lpstr>Literature Survey</vt:lpstr>
      <vt:lpstr>Literature Survey</vt:lpstr>
      <vt:lpstr>Literature Survey</vt:lpstr>
      <vt:lpstr>Literature Survey</vt:lpstr>
      <vt:lpstr>Literature Survey</vt:lpstr>
      <vt:lpstr>Proposed solution</vt:lpstr>
      <vt:lpstr>TOOLS used</vt:lpstr>
      <vt:lpstr>Project scope</vt:lpstr>
      <vt:lpstr>Timeline</vt:lpstr>
      <vt:lpstr>Work done so far</vt:lpstr>
      <vt:lpstr>Work done so far</vt:lpstr>
      <vt:lpstr>Work done so far</vt:lpstr>
      <vt:lpstr>RESULT &amp; ACHIEVED OUTCOMES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Pritam Nanda</dc:creator>
  <cp:lastModifiedBy>Amal Antony Alex</cp:lastModifiedBy>
  <cp:revision>11</cp:revision>
  <dcterms:created xsi:type="dcterms:W3CDTF">2024-12-18T04:45:52Z</dcterms:created>
  <dcterms:modified xsi:type="dcterms:W3CDTF">2026-04-25T03:39:06Z</dcterms:modified>
</cp:coreProperties>
</file>